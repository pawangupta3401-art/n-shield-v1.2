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0360152" cy="5029200"/>
          </a:xfrm>
          <a:prstGeom prst="roundRect">
            <a:avLst>
              <a:gd name="adj" fmla="val 3636"/>
            </a:avLst>
          </a:prstGeom>
          <a:solidFill>
            <a:srgbClr val="151C2C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0F2942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</a:rPr>
              <a:t>SYSTEM STATUS: ACTIVE | PILOT DEMO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Urban Safety Intelligence &amp; Command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fragmented city safety data into real-time actionable intelligence.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420624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</a:rPr>
              <a:t>PILOT GEOGRAPHY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4709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Nagpur, Maharashtra (6 Sectors)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420624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CORE TECH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4709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Next.js 16 + Mapbox 3D + Deck.gl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420624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TARGET USERS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38160" y="4709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Police 112, Municipalities &amp; Citizens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Safety Infrastructure &amp; Delayed Emergency Response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2194560"/>
          </a:xfrm>
          <a:prstGeom prst="roundRect">
            <a:avLst>
              <a:gd name="adj" fmla="val 6250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9144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Disconnected Data Silos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645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4+ Siloed Systems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Police FIR records, municipal CCTV camera feeds, citizen emergency calls (112), and streetlight lighting indices operate in complete isolation without a unified view.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5257800" cy="2194560"/>
          </a:xfrm>
          <a:prstGeom prst="roundRect">
            <a:avLst>
              <a:gd name="adj" fmla="val 6250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463040"/>
            <a:ext cx="91440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Reactive Patrol Allocation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46920" y="164592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1645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Static Deployment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Police PCR vans and patrol units are assigned statically based on traditional beat boundaries rather than real-time dynamic spatial crime threat density.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5257800" cy="2194560"/>
          </a:xfrm>
          <a:prstGeom prst="roundRect">
            <a:avLst>
              <a:gd name="adj" fmla="val 6250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840480"/>
            <a:ext cx="9144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Unmonitored Surveillance Blind Spots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06240" y="402336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4023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~40% Unmonitored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Authorities lack spatial visibility into CCTV coverage gaps across high-risk corridors, leading to inefficient camera installation decisions based on guesswork.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840480"/>
            <a:ext cx="5257800" cy="2194560"/>
          </a:xfrm>
          <a:prstGeom prst="roundRect">
            <a:avLst>
              <a:gd name="adj" fmla="val 6250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840480"/>
            <a:ext cx="91440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Uninformed Citizen Navigation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646920" y="402336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4023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Zero Safety Factors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Conventional GPS navigation applications optimize purely for distance and travel time, routing pedestrians and commuters through unlit and unsafe nighttime alleys.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Intelligence Layer Over City Infrastructure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069848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</a:rPr>
              <a:t>INCOMING CITY DATA FEEDS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210312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031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Crime Incident Reports (Categorized &amp; Severity Weighted)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5840" y="283464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834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Municipal CCTV Camera Nodes &amp; Operational Status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" y="356616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5661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Police Patrol Unit GPS Telemetry (PCR Vans, Bikes)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429768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976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Streetlight Lighting Indices &amp; Time-of-Day Factors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502920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029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Mass Gathering &amp; Public Event Metadata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062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F0FF"/>
                </a:solidFill>
              </a:rPr>
              <a:t>➔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3108960" cy="4023360"/>
          </a:xfrm>
          <a:prstGeom prst="roundRect">
            <a:avLst>
              <a:gd name="adj" fmla="val 3529"/>
            </a:avLst>
          </a:prstGeom>
          <a:solidFill>
            <a:srgbClr val="0F2942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N-SHIELD INTELLIGENCE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377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 Algorithmic Risk Heatmapping (0-100 Score) 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29077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 Explainable AI (XAI) Tactical Directives 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43814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 CCTV Coverage Gap &amp; Blind Spot Analytics 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9684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 Police Force Deficit &amp; Reallocation Engine 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44988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 Predictive Event Impact Simulator 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5029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 AI Safe Night Route Evaluator 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5528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</a:rPr>
              <a:t>➔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5039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ACTIONABLE COMMAND OUTPUTS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21031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2194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3D Digital Twin Command Dashboard for Authorities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30175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3108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1-Click Force Reallocation &amp; Patrol Directives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39319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40233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Citizen Safe Route Navigation &amp; Night Safety Mode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03920" y="48463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4937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1-Tap Multi-Department SOS Emergency Dispatch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Operational System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0FF"/>
                </a:solidFill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Ingestion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21945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Ingests spatial incidents, CCTV status, patrol locations, lighting indices, and mass event data across Nagpur's 6 administrative sectors.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53949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F2942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39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0FF"/>
                </a:solidFill>
              </a:rPr>
              <a:t>STAGE STATUS: ACTIVE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2900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0FF"/>
                </a:solidFill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61188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&amp; Risk Computation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3017520"/>
            <a:ext cx="21945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2004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Executes weighted multi-factor risk engine (R_zone), CCTV blind-spot clustering, and XAI directive generation.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1880" y="53949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F2942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539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0FF"/>
                </a:solidFill>
              </a:rPr>
              <a:t>STAGE STATUS: COMPUTING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0FF"/>
                </a:solidFill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30936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Command Center GIS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3017520"/>
            <a:ext cx="21945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2004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Visualizes GPU-accelerated risk heatmaps, interactive markers, force deficit meters, and event simulation scenarios.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53949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F2942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539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0FF"/>
                </a:solidFill>
              </a:rPr>
              <a:t>STAGE STATUS: VISUALIZING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82396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0FF"/>
                </a:solidFill>
              </a:rPr>
              <a:t>04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900684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Targeted Dispatch &amp; Action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006840" y="3017520"/>
            <a:ext cx="21945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06840" y="32004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Outputs 1-click patrol reallocation to police, targeted CCTV expansion plans, and citizen safe route recommendations.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06840" y="53949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F2942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06840" y="539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0FF"/>
                </a:solidFill>
              </a:rPr>
              <a:t>STAGE STATUS: DISPATCHING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GIS COMMAND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Command Map &amp; 3D Digital Twin (Nagpur Pilot)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6858000" cy="4663440"/>
          </a:xfrm>
          <a:prstGeom prst="roundRect">
            <a:avLst>
              <a:gd name="adj" fmla="val 2941"/>
            </a:avLst>
          </a:prstGeom>
          <a:solidFill>
            <a:srgbClr val="060A12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6858000" cy="457200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</a:rPr>
              <a:t>NAGPUR COMMAND MAP | 21.1458° N, 79.0882° E | DUAL-ENGINE: GOOGLE MAPS + MAPBOX 3D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146304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77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Sitabuldi (Z-SIT)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Risk: 82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0" y="2560320"/>
            <a:ext cx="146304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Dharampeth (Z-DHA)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Risk: 48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0" y="3840480"/>
            <a:ext cx="146304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3931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Sadar (Z-SAD)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Risk: 65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0" y="4114800"/>
            <a:ext cx="146304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206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Itwari (Z-ITW)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Risk: 74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5029200"/>
            <a:ext cx="146304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51206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Sakkardara (Z-SAK)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Risk: 38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0" y="1463040"/>
            <a:ext cx="3657600" cy="4663440"/>
          </a:xfrm>
          <a:prstGeom prst="roundRect">
            <a:avLst>
              <a:gd name="adj" fmla="val 3750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IMPLEMENTED GIS CAPABILITIES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Dual Mapping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23774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Google Maps API for vector navigation + Mapbox GL JS for 3D building extrusions.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95528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Deck.gl GPU Heatmaps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33375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Hardware-accelerated heatmaps visualizing real-time crime concentration.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5528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Interactive Spatial Filters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4297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Filter by crime categories (Theft, Robbery, Assault), time period, and severity.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5528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Infrastructure Overlays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52578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Real-time toggleable pins for CCTV nodes, PCR patrol vans, hospitals, and police stations.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55280" y="557784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F2942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0FF"/>
                </a:solidFill>
              </a:rPr>
              <a:t>STATUS: FULLY IMPLEMENTED IN REPOSITORY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Risk Scoring (R_zone) &amp; Explainable AI (XAI)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IMPLEMENTED RISK SCORING FORMULA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4892040" cy="822960"/>
          </a:xfrm>
          <a:prstGeom prst="roundRect">
            <a:avLst>
              <a:gd name="adj" fmla="val 11111"/>
            </a:avLst>
          </a:prstGeom>
          <a:solidFill>
            <a:srgbClr val="060A12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R_zone = Min(100, Round(( L_incident * 0.38 + F_time * 0.27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D_cctv * 0.22 + D_lighting * 0.13 ) * 100 ))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Incident Load (L_incident - 38%)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Weighted by incident count &amp; severity (Low:0.25, High:0.78, Critical:1.0).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Time-of-Day Factor (F_time - 27%)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Vulnerability multiplier peaking at 22:00-02:00 AM (F_time = 0.72 - 1.0).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52628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CCTV Deficit (D_cctv - 22%)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Derived directly from spatial unmonitored camera percentage (100 - Coverage%).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5303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Lighting Deficit (D_lighting - 13%)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5321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Streetlight operational index dropping to 8-22% during night hours.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EXPLAINABLE AI (XAI) TRANSPARENCY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0116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Deconstructs complex risk scores into 3 explainable factors with actionable tactical directives for officers.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2651760"/>
            <a:ext cx="4892040" cy="3291840"/>
          </a:xfrm>
          <a:prstGeom prst="roundRect">
            <a:avLst>
              <a:gd name="adj" fmla="val 2778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8346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SECTOR: Sitabuldi (Z-SIT) | RISK SCORE: 82/100 (CRITICAL)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3200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Historical Incident Load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3429000"/>
            <a:ext cx="4526280" cy="13716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3429000"/>
            <a:ext cx="3847338" cy="13716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794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CCTV Coverage Deficit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37960" y="4023360"/>
            <a:ext cx="4526280" cy="13716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7960" y="4023360"/>
            <a:ext cx="3168396" cy="13716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389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Night Vulnerability Index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37960" y="4617720"/>
            <a:ext cx="4526280" cy="13716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6537960" y="4617720"/>
            <a:ext cx="4073652" cy="13716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493776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</a:rPr>
              <a:t>AI TACTICAL DIRECTIVE: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51663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"CRITICAL DIRECTIVE: Deploy 2 Quick Response Bikes and establish temporary mobile CCTV unit at Sitabuldi station exit during 20:00 - 01:00 AM."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Gap Analytics &amp; Critical Blind Spot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SPATIAL COVERAGE &amp; BLIND SPOT ALGORITHMS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Spatial Coverage Ratio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Coverage % = (Operational Cameras / Total Installed Cameras) * 100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Critical Blind Spot Condition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Flagged if: Incident Density &gt; Threshold AND Spatial CCTV Coverage &lt; 45%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Hotspot Crime Velocity (Δ_crime)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Δ_crime = ((Current Incidents - Previous Incidents) / Previous Incidents) * 100. If Δ_crime &gt;= 15%, sector flagged as EMERGING HOTSPOT.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Data-Driven CCTV Planning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Replaces random camera placement with algorithmically prioritized municipal installation recommendations.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NAGPUR SECTOR SURVEILLANCE STATUS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03120"/>
          <a:ext cx="4892040" cy="374904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  <a:gridCol w="1600200"/>
              </a:tblGrid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F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F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F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F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Blind Spot 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Sitabuldi (Z-SIT)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 / 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Gap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Dharampeth (Z-DHA)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/ 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Sadar (Z-SAD)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/ 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Gap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Itwari (Z-ITW)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/ 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BLIND SPOT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Sakkardara (Z-SAK)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/ 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Gap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Automotive Sq (Z-AUT)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/ 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BLIND SPOT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&amp; EMERGENCY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Patrol Force Allocation &amp; Emergency 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POLICE PATROL DEPLOYMENT ENGINE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4892040" cy="640080"/>
          </a:xfrm>
          <a:prstGeom prst="roundRect">
            <a:avLst>
              <a:gd name="adj" fmla="val 11429"/>
            </a:avLst>
          </a:prstGeom>
          <a:solidFill>
            <a:srgbClr val="060A12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574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Patrols = Max( 2, Round( Population / 50K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R_zone / 15 + Δ_crime / 20 ) 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Deficit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Deficit = Required Patrols - Active Patrols per sector.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1-Click Reallocation Strategy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Reallocates PCR Vans, QR Bikes, and Interceptors from low-risk sectors (R_zone &lt; 35) to critical deficit sectors.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Vehicle Types Managed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PCR Vans (heavy response), Quick Response Bikes (narrow alleys), Interceptor Vehicles (highways).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CITIZEN EMERGENCY SOS SYSTEM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2103120"/>
            <a:ext cx="4892040" cy="822960"/>
          </a:xfrm>
          <a:prstGeom prst="roundRect">
            <a:avLst>
              <a:gd name="adj" fmla="val 11111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24028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</a:rPr>
              <a:t>Police Emergency (112)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5146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Instant GPS broadcast to nearest PCR Van.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55080" y="3063240"/>
            <a:ext cx="4892040" cy="822960"/>
          </a:xfrm>
          <a:prstGeom prst="roundRect">
            <a:avLst>
              <a:gd name="adj" fmla="val 11111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2004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Medical Ambulance (108)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4747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Direct route guidance to trauma hospitals.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4023360"/>
            <a:ext cx="4892040" cy="822960"/>
          </a:xfrm>
          <a:prstGeom prst="roundRect">
            <a:avLst>
              <a:gd name="adj" fmla="val 11111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16052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Fire &amp; Rescue (101)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44348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Hazard alert &amp; station dispatch.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5080" y="4983480"/>
            <a:ext cx="4892040" cy="822960"/>
          </a:xfrm>
          <a:prstGeom prst="roundRect">
            <a:avLst>
              <a:gd name="adj" fmla="val 11111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51206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Women Safety Helpline (1091)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53949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Priority interceptor unit tracking.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55080" y="58064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STATUS: Deployment Engine IMPLEMENTED | SOS Dispatch SIMULATED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 NAVIGATION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Risk-Aware Safe Night Navigation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ROUTE A — STANDARD FASTEST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Estimated Travel Time: 12 Mins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7889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Distance: 4.2 km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Risk Score: CRITICAL RISK (Index: 78/100)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Street Lighting: 20% Lighting Coverage (Dark Alleys)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Surveillance &amp; Patrols: Low CCTV Coverage (15%)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5303520"/>
            <a:ext cx="4709160" cy="54864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3035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NOT RECOMMENDED AT NIGHT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45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ROUTE B — N-SHIELD SAFE ROUTE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1945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Estimated Travel Time: 15 Mins (+3 min)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Distance: 4.8 km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3832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Risk Score: LOW RISK (Index: 22/100)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39776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Street Lighting: 90% Lighting Coverage (Main Arterials)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45720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Surveillance &amp; Patrols: High CCTV &amp; PCR Patrol Presence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5303520"/>
            <a:ext cx="4709160" cy="54864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53035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RECOMMENDED SAFE ROUTE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SAFETY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Dark-Spot Heatmapping &amp; Web Audio Acoustic Alarms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NIGHT-TIME THREAT MONITORING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Dynamic Night Lighting Deficit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Streetlight efficiency drops automatically in calculations during peak threat hours (21:00 - 04:00 AM).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Dark Spot Heatmapping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Maps unlit streets, isolated bus stops, and low-footfall nighttime corridors across Nagpur.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Synthesized Web Audio Acoustic Alarm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Uses browser Web Audio API (audioService.ts) to sound synthesized acoustic warning alarms when night safety mode is triggered.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Crowdsourced Citizen Reporting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Allows citizens to report unlit streets directly to municipal electrical boards.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060A12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LIVE NIGHT SAFETY MODE CONTROL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2194560"/>
            <a:ext cx="3886200" cy="914400"/>
          </a:xfrm>
          <a:prstGeom prst="roundRect">
            <a:avLst>
              <a:gd name="adj" fmla="val 15000"/>
            </a:avLst>
          </a:prstGeom>
          <a:solidFill>
            <a:srgbClr val="0F2942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3317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</a:rPr>
              <a:t>MODE: NIGHT SAFETY 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</a:rPr>
              <a:t>ACOUSTIC ALARM: ENABLED (Web Audio API)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34747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UNLIT CORRIDOR ALERT: AUTOMOTIVE SQ (Z-AUT)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LIGHTING INDEX: 12% | NIGHT THREAT SCORE: 88/100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5577840"/>
            <a:ext cx="4892040" cy="36576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55778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STATUS: FULLY IMPLEMENTED IN REPOSITORY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SIMULATOR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Gathering &amp; Public Event Risk Modeling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PREDICTIVE EVENT IMPACT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Select Event Scenario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VCA Stadium Cricket Match, Ganesh Visarjan Procession, Political Rally, or VIP Movement.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Dynamic Variable Adjustments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Injects crowd surge density, traffic congestion factors, and perimeter risk multipliers.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Sector Risk Recalculation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Recalculates target sector risk score (e.g. Zone-2 Dharampeth risk spikes from 48 -&gt; 85).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Automated Force Shift Generation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Calculates additional police PCR vans and QR bikes required for pre-event staging.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SIMULATION CASE STUDY: VCA STADIUM MATCH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103120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19456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Baseline Sector Risk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37960" y="24231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48 / 100 (Medium)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3017520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10896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Estimated Footfall Surge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37960" y="33375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+45,000 Spectators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3931920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02336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Simulated Post-Event Risk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37960" y="42519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86 / 100 (Critical)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4846320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93776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Auto-Recommended Reinforcements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37960" y="5166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+4 PCR Vans, +6 QR Bikes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58064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STATUS: FULLY IMPLEMENTED (Rule-Based Simulation Engine)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Fragmented Systems vs. N-SHIELD Unified Command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206240"/>
              </a:tblGrid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F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Dimension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Approach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N-SHIELD Platform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9"/>
                    </a:solidFill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Visibility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Disconnected paper FIRs &amp; isolated digital files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3D Digital Twin Command Dashboard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Assessment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historical annual crime statistics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multi-factor risk engine (R_zone)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CCTV Infrastructure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Cameras monitored individually without spatial context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gap &amp; critical blind spot analytics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Citizen Navigation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Optimized purely for distance &amp; travel 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Multi-variable safety &amp; lighting aware routing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Patrol Allocation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beat patrols based on traditional boundaries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Algorithmic deficit-based auto-reallocation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Management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security planning &amp; reactive deployment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predictive event impact simulation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Enterprise Technology Stack &amp;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IMPLEMENTED TECH STACK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0FF"/>
                </a:solidFill>
              </a:rPr>
              <a:t>• Core Web Framework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Next.js 16 (App Router), React 19, TypeScript (Strict)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0FF"/>
                </a:solidFill>
              </a:rPr>
              <a:t>• Styling &amp; UI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Tailwind CSS v4, Lucide React Icons, Recharts, Framer Motion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0FF"/>
                </a:solidFill>
              </a:rPr>
              <a:t>• GIS &amp; Digital Twin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Google Maps API (@vis.gl), Mapbox GL JS, Deck.gl GPU Layers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52628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0FF"/>
                </a:solidFill>
              </a:rPr>
              <a:t>• Audio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Synthesized Web Audio API Alarm System (audioService.ts)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0FF"/>
                </a:solidFill>
              </a:rPr>
              <a:t>• REST API Endpoints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Next.js APIs: /api/incidents, /api/cctv, /api/zones, /api/news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463040"/>
            <a:ext cx="5257800" cy="4663440"/>
          </a:xfrm>
          <a:prstGeom prst="roundRect">
            <a:avLst>
              <a:gd name="adj" fmla="val 2941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DATA &amp; ENGINE ARCHITECTURE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2103120"/>
            <a:ext cx="4892040" cy="822960"/>
          </a:xfrm>
          <a:prstGeom prst="roundRect">
            <a:avLst>
              <a:gd name="adj" fmla="val 11111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1945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Presentation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24688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Next.js 16 React Client + Google Maps / Mapbox 3D Canvas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55080" y="3108960"/>
            <a:ext cx="4892040" cy="822960"/>
          </a:xfrm>
          <a:prstGeom prst="roundRect">
            <a:avLst>
              <a:gd name="adj" fmla="val 11111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2004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API &amp; Data Gateway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4747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REST APIs (/api/*) + Real-time RSS News Feed Service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4114800"/>
            <a:ext cx="4892040" cy="822960"/>
          </a:xfrm>
          <a:prstGeom prst="roundRect">
            <a:avLst>
              <a:gd name="adj" fmla="val 11111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2062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Intelligence Engine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44805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RiskEngine + BlindSpotIntelligence + DeploymentEngine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55080" y="5120640"/>
            <a:ext cx="4892040" cy="822960"/>
          </a:xfrm>
          <a:prstGeom prst="roundRect">
            <a:avLst>
              <a:gd name="adj" fmla="val 11111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521208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Municipal &amp; City 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5486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Nagpur Sector Coordinates, CCTV Nodes &amp; Incident Schema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Multi-Stakeholder Value &amp; City-Wide Expansion Path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2194560"/>
          </a:xfrm>
          <a:prstGeom prst="roundRect">
            <a:avLst>
              <a:gd name="adj" fmla="val 6250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</a:rPr>
              <a:t>Law Enforcement / Police 112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Real-time 3D GIS situational awareness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Deficit-based force reallocation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XAI transparent tactical directives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257800" cy="2194560"/>
          </a:xfrm>
          <a:prstGeom prst="roundRect">
            <a:avLst>
              <a:gd name="adj" fmla="val 6250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645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Smart City Authorities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1031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Data-driven CCTV installation planning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5603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Streetlight maintenance prioritization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30175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Mass event safety risk management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5257800" cy="2194560"/>
          </a:xfrm>
          <a:prstGeom prst="roundRect">
            <a:avLst>
              <a:gd name="adj" fmla="val 6250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23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Citizens &amp; Tourists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4805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Risk-aware safe night navigation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1-Tap multi-department SOS dispatch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53949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Crowdsourced dark-spot reporting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3840480"/>
            <a:ext cx="5257800" cy="2194560"/>
          </a:xfrm>
          <a:prstGeom prst="roundRect">
            <a:avLst>
              <a:gd name="adj" fmla="val 6250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023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Emergency Medical &amp; Fire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44805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Sub-second location identification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49377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Direct trauma route guidance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53949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Multi-agency coordination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Implementation Roadmap &amp; Strategic 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N-SHIELD | AI-Driven Urban Safety Intelligence &amp; Command Center (Nagpur Pilot)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</a:rPr>
              <a:t>PHASE 1 (CURRENT)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Interactive Prototype &amp; 6-Sector Command Center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PHASE 2 (MONTHS 1-3)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20116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 with Nagpur Police CCTNS FIR Database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PHASE 3 (MONTHS 3-6)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IoT Smart Streetlight &amp; Acoustic Sensor Ingestion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2396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51C2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PHASE 4 (MONTHS 6-12)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06840" y="20116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Spatio-Temporal GNN Crime Forecasting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0F2942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091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</a:rPr>
              <a:t>STRATEGIC CLOSING VISION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"N-SHIELD does not replace law enforcement; it empowers city decision-makers with a unified intelligence layer to transform urban safety from reactive incident management into proactive, data-driven protection."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N-SHIELD: AI-Driven Urban Safety Intelligence &amp; Command Center</dc:title>
  <dc:subject>Smart City &amp; Urban Safety Competition Presentation</dc:subject>
  <dc:creator>N-SHIELD Team</dc:creator>
  <cp:lastModifiedBy>N-SHIELD Team</cp:lastModifiedBy>
  <cp:revision>1</cp:revision>
  <dcterms:created xsi:type="dcterms:W3CDTF">2026-09-28T19:59:06Z</dcterms:created>
  <dcterms:modified xsi:type="dcterms:W3CDTF">2026-09-28T19:59:06Z</dcterms:modified>
</cp:coreProperties>
</file>